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Saira Bold" charset="1" panose="00000800000000000000"/>
      <p:regular r:id="rId21"/>
    </p:embeddedFont>
    <p:embeddedFont>
      <p:font typeface="Saira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png" Type="http://schemas.openxmlformats.org/officeDocument/2006/relationships/image"/><Relationship Id="rId12" Target="../media/image31.png" Type="http://schemas.openxmlformats.org/officeDocument/2006/relationships/image"/><Relationship Id="rId13" Target="../media/image32.png" Type="http://schemas.openxmlformats.org/officeDocument/2006/relationships/image"/><Relationship Id="rId14" Target="../media/image33.png" Type="http://schemas.openxmlformats.org/officeDocument/2006/relationships/image"/><Relationship Id="rId15" Target="../media/image34.png" Type="http://schemas.openxmlformats.org/officeDocument/2006/relationships/image"/><Relationship Id="rId16" Target="../media/image1.png" Type="http://schemas.openxmlformats.org/officeDocument/2006/relationships/image"/><Relationship Id="rId2" Target="../media/image2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02365" y="3922840"/>
            <a:ext cx="6883270" cy="3118341"/>
            <a:chOff x="0" y="0"/>
            <a:chExt cx="9177693" cy="41577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79176" cy="4157787"/>
            </a:xfrm>
            <a:custGeom>
              <a:avLst/>
              <a:gdLst/>
              <a:ahLst/>
              <a:cxnLst/>
              <a:rect r="r" b="b" t="t" l="l"/>
              <a:pathLst>
                <a:path h="4157787" w="6679176">
                  <a:moveTo>
                    <a:pt x="0" y="0"/>
                  </a:moveTo>
                  <a:lnTo>
                    <a:pt x="6679176" y="0"/>
                  </a:lnTo>
                  <a:lnTo>
                    <a:pt x="6679176" y="4157787"/>
                  </a:lnTo>
                  <a:lnTo>
                    <a:pt x="0" y="4157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7110440" y="650475"/>
              <a:ext cx="537762" cy="1681662"/>
            </a:xfrm>
            <a:custGeom>
              <a:avLst/>
              <a:gdLst/>
              <a:ahLst/>
              <a:cxnLst/>
              <a:rect r="r" b="b" t="t" l="l"/>
              <a:pathLst>
                <a:path h="1681662" w="537762">
                  <a:moveTo>
                    <a:pt x="0" y="0"/>
                  </a:moveTo>
                  <a:lnTo>
                    <a:pt x="537761" y="0"/>
                  </a:lnTo>
                  <a:lnTo>
                    <a:pt x="537761" y="1681663"/>
                  </a:lnTo>
                  <a:lnTo>
                    <a:pt x="0" y="1681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82102" t="-69477" r="-659930" b="-77765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876416" y="1504833"/>
              <a:ext cx="537762" cy="1681662"/>
            </a:xfrm>
            <a:custGeom>
              <a:avLst/>
              <a:gdLst/>
              <a:ahLst/>
              <a:cxnLst/>
              <a:rect r="r" b="b" t="t" l="l"/>
              <a:pathLst>
                <a:path h="1681662" w="537762">
                  <a:moveTo>
                    <a:pt x="0" y="0"/>
                  </a:moveTo>
                  <a:lnTo>
                    <a:pt x="537762" y="0"/>
                  </a:lnTo>
                  <a:lnTo>
                    <a:pt x="537762" y="1681663"/>
                  </a:lnTo>
                  <a:lnTo>
                    <a:pt x="0" y="1681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82102" t="-69477" r="-659930" b="-77765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8639932" y="2332138"/>
              <a:ext cx="537762" cy="1681662"/>
            </a:xfrm>
            <a:custGeom>
              <a:avLst/>
              <a:gdLst/>
              <a:ahLst/>
              <a:cxnLst/>
              <a:rect r="r" b="b" t="t" l="l"/>
              <a:pathLst>
                <a:path h="1681662" w="537762">
                  <a:moveTo>
                    <a:pt x="0" y="0"/>
                  </a:moveTo>
                  <a:lnTo>
                    <a:pt x="537761" y="0"/>
                  </a:lnTo>
                  <a:lnTo>
                    <a:pt x="537761" y="1681662"/>
                  </a:lnTo>
                  <a:lnTo>
                    <a:pt x="0" y="1681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82102" t="-69477" r="-659930" b="-77765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531009" y="2768754"/>
            <a:ext cx="9225983" cy="7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11"/>
              </a:lnSpc>
              <a:spcBef>
                <a:spcPct val="0"/>
              </a:spcBef>
            </a:pPr>
            <a:r>
              <a:rPr lang="en-US" b="true" sz="4650">
                <a:solidFill>
                  <a:srgbClr val="2C2C2C"/>
                </a:solidFill>
                <a:latin typeface="Saira Bold"/>
                <a:ea typeface="Saira Bold"/>
                <a:cs typeface="Saira Bold"/>
                <a:sym typeface="Saira Bold"/>
              </a:rPr>
              <a:t>DE INVERSIONES CAPITALIA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9540" y="114300"/>
            <a:ext cx="16479760" cy="2749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85"/>
              </a:lnSpc>
              <a:spcBef>
                <a:spcPct val="0"/>
              </a:spcBef>
            </a:pPr>
            <a:r>
              <a:rPr lang="en-US" b="true" sz="16203" spc="1701">
                <a:solidFill>
                  <a:srgbClr val="24B224"/>
                </a:solidFill>
                <a:latin typeface="Saira Bold"/>
                <a:ea typeface="Saira Bold"/>
                <a:cs typeface="Saira Bold"/>
                <a:sym typeface="Saira Bold"/>
              </a:rPr>
              <a:t>PLATAFORMA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20729" y="7112046"/>
            <a:ext cx="8046541" cy="273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2"/>
              </a:lnSpc>
            </a:pPr>
            <a:r>
              <a:rPr lang="en-US" sz="3137" b="true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Jose Aguilar 2221889</a:t>
            </a:r>
          </a:p>
          <a:p>
            <a:pPr algn="ctr">
              <a:lnSpc>
                <a:spcPts val="4392"/>
              </a:lnSpc>
            </a:pPr>
            <a:r>
              <a:rPr lang="en-US" sz="3137" b="true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Emerson Lopez 2225507</a:t>
            </a:r>
          </a:p>
          <a:p>
            <a:pPr algn="ctr">
              <a:lnSpc>
                <a:spcPts val="4392"/>
              </a:lnSpc>
            </a:pPr>
            <a:r>
              <a:rPr lang="en-US" sz="3137" b="true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Yiber Romero 2221835</a:t>
            </a:r>
          </a:p>
          <a:p>
            <a:pPr algn="ctr">
              <a:lnSpc>
                <a:spcPts val="4392"/>
              </a:lnSpc>
            </a:pPr>
          </a:p>
          <a:p>
            <a:pPr algn="ctr">
              <a:lnSpc>
                <a:spcPts val="4392"/>
              </a:lnSpc>
              <a:spcBef>
                <a:spcPct val="0"/>
              </a:spcBef>
            </a:pPr>
            <a:r>
              <a:rPr lang="en-US" b="true" sz="3137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Grupo: Ipsum dolor - Plataforma: Capitalia 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28752" y="6780399"/>
            <a:ext cx="4959248" cy="3506601"/>
          </a:xfrm>
          <a:custGeom>
            <a:avLst/>
            <a:gdLst/>
            <a:ahLst/>
            <a:cxnLst/>
            <a:rect r="r" b="b" t="t" l="l"/>
            <a:pathLst>
              <a:path h="3506601" w="4959248">
                <a:moveTo>
                  <a:pt x="0" y="0"/>
                </a:moveTo>
                <a:lnTo>
                  <a:pt x="4959248" y="0"/>
                </a:lnTo>
                <a:lnTo>
                  <a:pt x="4959248" y="3506601"/>
                </a:lnTo>
                <a:lnTo>
                  <a:pt x="0" y="35066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5535" y="7328283"/>
            <a:ext cx="5535915" cy="2958717"/>
          </a:xfrm>
          <a:custGeom>
            <a:avLst/>
            <a:gdLst/>
            <a:ahLst/>
            <a:cxnLst/>
            <a:rect r="r" b="b" t="t" l="l"/>
            <a:pathLst>
              <a:path h="2958717" w="5535915">
                <a:moveTo>
                  <a:pt x="0" y="0"/>
                </a:moveTo>
                <a:lnTo>
                  <a:pt x="5535916" y="0"/>
                </a:lnTo>
                <a:lnTo>
                  <a:pt x="5535916" y="2958717"/>
                </a:lnTo>
                <a:lnTo>
                  <a:pt x="0" y="29587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77767" y="3174593"/>
            <a:ext cx="12164792" cy="5037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6"/>
              </a:lnSpc>
            </a:pPr>
            <a:r>
              <a:rPr lang="en-US" sz="2944" spc="247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El sistema fue pensado como una herramienta i</a:t>
            </a:r>
            <a:r>
              <a:rPr lang="en-US" sz="2944" spc="247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ntegral que combina varias funciones:</a:t>
            </a:r>
          </a:p>
          <a:p>
            <a:pPr algn="l" marL="635711" indent="-317856" lvl="1">
              <a:lnSpc>
                <a:spcPts val="4446"/>
              </a:lnSpc>
              <a:buFont typeface="Arial"/>
              <a:buChar char="•"/>
            </a:pPr>
            <a:r>
              <a:rPr lang="en-US" sz="2944" spc="247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Registro e inicio de sesión de usuarios.</a:t>
            </a:r>
          </a:p>
          <a:p>
            <a:pPr algn="l" marL="635711" indent="-317856" lvl="1">
              <a:lnSpc>
                <a:spcPts val="4446"/>
              </a:lnSpc>
              <a:buFont typeface="Arial"/>
              <a:buChar char="•"/>
            </a:pPr>
            <a:r>
              <a:rPr lang="en-US" sz="2944" spc="247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Administración de perfiles y cuentas personales.</a:t>
            </a:r>
          </a:p>
          <a:p>
            <a:pPr algn="l" marL="635711" indent="-317856" lvl="1">
              <a:lnSpc>
                <a:spcPts val="4446"/>
              </a:lnSpc>
              <a:buFont typeface="Arial"/>
              <a:buChar char="•"/>
            </a:pPr>
            <a:r>
              <a:rPr lang="en-US" sz="2944" spc="247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Gestión de portafolios y precios históricos de inversión.</a:t>
            </a:r>
          </a:p>
          <a:p>
            <a:pPr algn="l" marL="635711" indent="-317856" lvl="1">
              <a:lnSpc>
                <a:spcPts val="4446"/>
              </a:lnSpc>
              <a:buFont typeface="Arial"/>
              <a:buChar char="•"/>
            </a:pPr>
            <a:r>
              <a:rPr lang="en-US" sz="2944" spc="247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Visualización de reportes, estadísticas y rendimientos.</a:t>
            </a:r>
          </a:p>
          <a:p>
            <a:pPr algn="l" marL="635711" indent="-317856" lvl="1">
              <a:lnSpc>
                <a:spcPts val="4446"/>
              </a:lnSpc>
              <a:buFont typeface="Arial"/>
              <a:buChar char="•"/>
            </a:pPr>
            <a:r>
              <a:rPr lang="en-US" sz="2944" spc="247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Módulos administrativos para el control de usuarios y operaciones.</a:t>
            </a:r>
          </a:p>
          <a:p>
            <a:pPr algn="l">
              <a:lnSpc>
                <a:spcPts val="4446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5927521" y="7574793"/>
            <a:ext cx="4696567" cy="2465698"/>
          </a:xfrm>
          <a:custGeom>
            <a:avLst/>
            <a:gdLst/>
            <a:ahLst/>
            <a:cxnLst/>
            <a:rect r="r" b="b" t="t" l="l"/>
            <a:pathLst>
              <a:path h="2465698" w="4696567">
                <a:moveTo>
                  <a:pt x="0" y="0"/>
                </a:moveTo>
                <a:lnTo>
                  <a:pt x="4696567" y="0"/>
                </a:lnTo>
                <a:lnTo>
                  <a:pt x="4696567" y="2465697"/>
                </a:lnTo>
                <a:lnTo>
                  <a:pt x="0" y="2465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09760" y="680154"/>
            <a:ext cx="15849540" cy="89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07"/>
              </a:lnSpc>
              <a:spcBef>
                <a:spcPct val="0"/>
              </a:spcBef>
            </a:pPr>
            <a:r>
              <a:rPr lang="en-US" sz="5219" b="true">
                <a:solidFill>
                  <a:srgbClr val="2C2C2C"/>
                </a:solidFill>
                <a:latin typeface="Saira Bold"/>
                <a:ea typeface="Saira Bold"/>
                <a:cs typeface="Saira Bold"/>
                <a:sym typeface="Saira Bold"/>
              </a:rPr>
              <a:t>Plataforma web para gestión de inversiones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77767" y="1604592"/>
            <a:ext cx="14285599" cy="1665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6"/>
              </a:lnSpc>
            </a:pPr>
            <a:r>
              <a:rPr lang="en-US" sz="2944" spc="247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Diseñada para permitir a los usuarios gestionar portafolios, visualizar rendimientos y administrar sus cuentas de manera segura.</a:t>
            </a:r>
          </a:p>
          <a:p>
            <a:pPr algn="l">
              <a:lnSpc>
                <a:spcPts val="444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557391"/>
            <a:ext cx="8000322" cy="7172219"/>
          </a:xfrm>
          <a:custGeom>
            <a:avLst/>
            <a:gdLst/>
            <a:ahLst/>
            <a:cxnLst/>
            <a:rect r="r" b="b" t="t" l="l"/>
            <a:pathLst>
              <a:path h="7172219" w="8000322">
                <a:moveTo>
                  <a:pt x="0" y="0"/>
                </a:moveTo>
                <a:lnTo>
                  <a:pt x="8000322" y="0"/>
                </a:lnTo>
                <a:lnTo>
                  <a:pt x="8000322" y="7172218"/>
                </a:lnTo>
                <a:lnTo>
                  <a:pt x="0" y="71722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89995" y="1557391"/>
            <a:ext cx="7918715" cy="7172219"/>
          </a:xfrm>
          <a:custGeom>
            <a:avLst/>
            <a:gdLst/>
            <a:ahLst/>
            <a:cxnLst/>
            <a:rect r="r" b="b" t="t" l="l"/>
            <a:pathLst>
              <a:path h="7172219" w="7918715">
                <a:moveTo>
                  <a:pt x="0" y="0"/>
                </a:moveTo>
                <a:lnTo>
                  <a:pt x="7918715" y="0"/>
                </a:lnTo>
                <a:lnTo>
                  <a:pt x="7918715" y="7172218"/>
                </a:lnTo>
                <a:lnTo>
                  <a:pt x="0" y="7172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71932" y="632829"/>
            <a:ext cx="2756929" cy="715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32"/>
              </a:lnSpc>
              <a:spcBef>
                <a:spcPct val="0"/>
              </a:spcBef>
            </a:pPr>
            <a:r>
              <a:rPr lang="en-US" b="true" sz="4237">
                <a:solidFill>
                  <a:srgbClr val="2C2C2C"/>
                </a:solidFill>
                <a:latin typeface="Saira Bold"/>
                <a:ea typeface="Saira Bold"/>
                <a:cs typeface="Saira Bold"/>
                <a:sym typeface="Saira Bold"/>
              </a:rPr>
              <a:t>Login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61297" y="632829"/>
            <a:ext cx="4707097" cy="715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32"/>
              </a:lnSpc>
              <a:spcBef>
                <a:spcPct val="0"/>
              </a:spcBef>
            </a:pPr>
            <a:r>
              <a:rPr lang="en-US" b="true" sz="4237">
                <a:solidFill>
                  <a:srgbClr val="2C2C2C"/>
                </a:solidFill>
                <a:latin typeface="Saira Bold"/>
                <a:ea typeface="Saira Bold"/>
                <a:cs typeface="Saira Bold"/>
                <a:sym typeface="Saira Bold"/>
              </a:rPr>
              <a:t>Registrarse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9072" y="5623560"/>
            <a:ext cx="18288000" cy="3634740"/>
          </a:xfrm>
          <a:custGeom>
            <a:avLst/>
            <a:gdLst/>
            <a:ahLst/>
            <a:cxnLst/>
            <a:rect r="r" b="b" t="t" l="l"/>
            <a:pathLst>
              <a:path h="3634740" w="18288000">
                <a:moveTo>
                  <a:pt x="0" y="0"/>
                </a:moveTo>
                <a:lnTo>
                  <a:pt x="18288000" y="0"/>
                </a:lnTo>
                <a:lnTo>
                  <a:pt x="18288000" y="3634740"/>
                </a:lnTo>
                <a:lnTo>
                  <a:pt x="0" y="3634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964589"/>
            <a:ext cx="4517695" cy="2366143"/>
          </a:xfrm>
          <a:custGeom>
            <a:avLst/>
            <a:gdLst/>
            <a:ahLst/>
            <a:cxnLst/>
            <a:rect r="r" b="b" t="t" l="l"/>
            <a:pathLst>
              <a:path h="2366143" w="4517695">
                <a:moveTo>
                  <a:pt x="0" y="0"/>
                </a:moveTo>
                <a:lnTo>
                  <a:pt x="4517695" y="0"/>
                </a:lnTo>
                <a:lnTo>
                  <a:pt x="4517695" y="2366143"/>
                </a:lnTo>
                <a:lnTo>
                  <a:pt x="0" y="23661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1964589"/>
            <a:ext cx="6352008" cy="2540803"/>
          </a:xfrm>
          <a:custGeom>
            <a:avLst/>
            <a:gdLst/>
            <a:ahLst/>
            <a:cxnLst/>
            <a:rect r="r" b="b" t="t" l="l"/>
            <a:pathLst>
              <a:path h="2540803" w="6352008">
                <a:moveTo>
                  <a:pt x="0" y="0"/>
                </a:moveTo>
                <a:lnTo>
                  <a:pt x="6352008" y="0"/>
                </a:lnTo>
                <a:lnTo>
                  <a:pt x="6352008" y="2540803"/>
                </a:lnTo>
                <a:lnTo>
                  <a:pt x="0" y="2540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9072" y="632829"/>
            <a:ext cx="18249568" cy="715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32"/>
              </a:lnSpc>
              <a:spcBef>
                <a:spcPct val="0"/>
              </a:spcBef>
            </a:pPr>
            <a:r>
              <a:rPr lang="en-US" b="true" sz="4237">
                <a:solidFill>
                  <a:srgbClr val="2C2C2C"/>
                </a:solidFill>
                <a:latin typeface="Saira Bold"/>
                <a:ea typeface="Saira Bold"/>
                <a:cs typeface="Saira Bold"/>
                <a:sym typeface="Saira Bold"/>
              </a:rPr>
              <a:t>Lógica</a:t>
            </a:r>
            <a:r>
              <a:rPr lang="en-US" b="true" sz="4237" strike="noStrike" u="none">
                <a:solidFill>
                  <a:srgbClr val="2C2C2C"/>
                </a:solidFill>
                <a:latin typeface="Saira Bold"/>
                <a:ea typeface="Saira Bold"/>
                <a:cs typeface="Saira Bold"/>
                <a:sym typeface="Saira Bold"/>
              </a:rPr>
              <a:t> del sistema y almacenamiento (Backend con Node.js y MySQL)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457767"/>
            <a:ext cx="4517695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52"/>
              </a:lnSpc>
              <a:spcBef>
                <a:spcPct val="0"/>
              </a:spcBef>
            </a:pPr>
            <a:r>
              <a:rPr lang="en-US" sz="2537">
                <a:solidFill>
                  <a:srgbClr val="2C2C2C"/>
                </a:solidFill>
                <a:latin typeface="Saira"/>
                <a:ea typeface="Saira"/>
                <a:cs typeface="Saira"/>
                <a:sym typeface="Saira"/>
              </a:rPr>
              <a:t>Para encriptar contraseñas.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53072" y="4457767"/>
            <a:ext cx="6662879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52"/>
              </a:lnSpc>
              <a:spcBef>
                <a:spcPct val="0"/>
              </a:spcBef>
            </a:pPr>
            <a:r>
              <a:rPr lang="en-US" sz="2537">
                <a:solidFill>
                  <a:srgbClr val="2C2C2C"/>
                </a:solidFill>
                <a:latin typeface="Saira"/>
                <a:ea typeface="Saira"/>
                <a:cs typeface="Saira"/>
                <a:sym typeface="Saira"/>
              </a:rPr>
              <a:t>Para autenticar usuarios y proteger rutas.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73087" y="3341113"/>
            <a:ext cx="2879114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52"/>
              </a:lnSpc>
              <a:spcBef>
                <a:spcPct val="0"/>
              </a:spcBef>
            </a:pPr>
            <a:r>
              <a:rPr lang="en-US" sz="2537">
                <a:solidFill>
                  <a:srgbClr val="2C2C2C"/>
                </a:solidFill>
                <a:latin typeface="Saira"/>
                <a:ea typeface="Saira"/>
                <a:cs typeface="Saira"/>
                <a:sym typeface="Saira"/>
              </a:rPr>
              <a:t>Json Web Token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1137" y="6027110"/>
            <a:ext cx="6969066" cy="4019387"/>
            <a:chOff x="0" y="0"/>
            <a:chExt cx="2294587" cy="13233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4587" cy="1323396"/>
            </a:xfrm>
            <a:custGeom>
              <a:avLst/>
              <a:gdLst/>
              <a:ahLst/>
              <a:cxnLst/>
              <a:rect r="r" b="b" t="t" l="l"/>
              <a:pathLst>
                <a:path h="1323396" w="2294587">
                  <a:moveTo>
                    <a:pt x="35549" y="0"/>
                  </a:moveTo>
                  <a:lnTo>
                    <a:pt x="2259039" y="0"/>
                  </a:lnTo>
                  <a:cubicBezTo>
                    <a:pt x="2268467" y="0"/>
                    <a:pt x="2277509" y="3745"/>
                    <a:pt x="2284175" y="10412"/>
                  </a:cubicBezTo>
                  <a:cubicBezTo>
                    <a:pt x="2290842" y="17079"/>
                    <a:pt x="2294587" y="26121"/>
                    <a:pt x="2294587" y="35549"/>
                  </a:cubicBezTo>
                  <a:lnTo>
                    <a:pt x="2294587" y="1287848"/>
                  </a:lnTo>
                  <a:cubicBezTo>
                    <a:pt x="2294587" y="1297276"/>
                    <a:pt x="2290842" y="1306318"/>
                    <a:pt x="2284175" y="1312984"/>
                  </a:cubicBezTo>
                  <a:cubicBezTo>
                    <a:pt x="2277509" y="1319651"/>
                    <a:pt x="2268467" y="1323396"/>
                    <a:pt x="2259039" y="1323396"/>
                  </a:cubicBezTo>
                  <a:lnTo>
                    <a:pt x="35549" y="1323396"/>
                  </a:lnTo>
                  <a:cubicBezTo>
                    <a:pt x="26121" y="1323396"/>
                    <a:pt x="17079" y="1319651"/>
                    <a:pt x="10412" y="1312984"/>
                  </a:cubicBezTo>
                  <a:cubicBezTo>
                    <a:pt x="3745" y="1306318"/>
                    <a:pt x="0" y="1297276"/>
                    <a:pt x="0" y="1287848"/>
                  </a:cubicBezTo>
                  <a:lnTo>
                    <a:pt x="0" y="35549"/>
                  </a:lnTo>
                  <a:cubicBezTo>
                    <a:pt x="0" y="26121"/>
                    <a:pt x="3745" y="17079"/>
                    <a:pt x="10412" y="10412"/>
                  </a:cubicBezTo>
                  <a:cubicBezTo>
                    <a:pt x="17079" y="3745"/>
                    <a:pt x="26121" y="0"/>
                    <a:pt x="3554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294587" cy="1351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050602" y="9603103"/>
            <a:ext cx="4237398" cy="683897"/>
            <a:chOff x="0" y="0"/>
            <a:chExt cx="1116023" cy="1801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16023" cy="180121"/>
            </a:xfrm>
            <a:custGeom>
              <a:avLst/>
              <a:gdLst/>
              <a:ahLst/>
              <a:cxnLst/>
              <a:rect r="r" b="b" t="t" l="l"/>
              <a:pathLst>
                <a:path h="180121" w="1116023">
                  <a:moveTo>
                    <a:pt x="90061" y="0"/>
                  </a:moveTo>
                  <a:lnTo>
                    <a:pt x="1025962" y="0"/>
                  </a:lnTo>
                  <a:cubicBezTo>
                    <a:pt x="1049848" y="0"/>
                    <a:pt x="1072755" y="9488"/>
                    <a:pt x="1089644" y="26378"/>
                  </a:cubicBezTo>
                  <a:cubicBezTo>
                    <a:pt x="1106534" y="43268"/>
                    <a:pt x="1116023" y="66175"/>
                    <a:pt x="1116023" y="90061"/>
                  </a:cubicBezTo>
                  <a:lnTo>
                    <a:pt x="1116023" y="90061"/>
                  </a:lnTo>
                  <a:cubicBezTo>
                    <a:pt x="1116023" y="139800"/>
                    <a:pt x="1075701" y="180121"/>
                    <a:pt x="1025962" y="180121"/>
                  </a:cubicBezTo>
                  <a:lnTo>
                    <a:pt x="90061" y="180121"/>
                  </a:lnTo>
                  <a:cubicBezTo>
                    <a:pt x="40321" y="180121"/>
                    <a:pt x="0" y="139800"/>
                    <a:pt x="0" y="90061"/>
                  </a:cubicBezTo>
                  <a:lnTo>
                    <a:pt x="0" y="90061"/>
                  </a:lnTo>
                  <a:cubicBezTo>
                    <a:pt x="0" y="40321"/>
                    <a:pt x="40321" y="0"/>
                    <a:pt x="900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CD5D">
                    <a:alpha val="100000"/>
                  </a:srgbClr>
                </a:gs>
                <a:gs pos="100000">
                  <a:srgbClr val="24B224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16023" cy="218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2"/>
                </a:lnSpc>
              </a:pPr>
              <a:r>
                <a:rPr lang="en-US" sz="1880" spc="197">
                  <a:solidFill>
                    <a:srgbClr val="FFFFFF"/>
                  </a:solidFill>
                  <a:latin typeface="Saira"/>
                  <a:ea typeface="Saira"/>
                  <a:cs typeface="Saira"/>
                  <a:sym typeface="Saira"/>
                </a:rPr>
                <a:t>HTTP://LOCALHOST:5173/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0"/>
            <a:ext cx="18288000" cy="8397054"/>
          </a:xfrm>
          <a:custGeom>
            <a:avLst/>
            <a:gdLst/>
            <a:ahLst/>
            <a:cxnLst/>
            <a:rect r="r" b="b" t="t" l="l"/>
            <a:pathLst>
              <a:path h="8397054" w="18288000">
                <a:moveTo>
                  <a:pt x="0" y="0"/>
                </a:moveTo>
                <a:lnTo>
                  <a:pt x="18288000" y="0"/>
                </a:lnTo>
                <a:lnTo>
                  <a:pt x="18288000" y="8397054"/>
                </a:lnTo>
                <a:lnTo>
                  <a:pt x="0" y="83970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6" t="0" r="-456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055242" y="6276460"/>
            <a:ext cx="3794377" cy="582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45"/>
              </a:lnSpc>
              <a:spcBef>
                <a:spcPct val="0"/>
              </a:spcBef>
            </a:pPr>
            <a:r>
              <a:rPr lang="en-US" b="true" sz="3389" strike="noStrike" u="none">
                <a:solidFill>
                  <a:srgbClr val="2C2C2C"/>
                </a:solidFill>
                <a:latin typeface="Saira Bold"/>
                <a:ea typeface="Saira Bold"/>
                <a:cs typeface="Saira Bold"/>
                <a:sym typeface="Saira Bold"/>
              </a:rPr>
              <a:t>Análisis Técnico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55242" y="6945282"/>
            <a:ext cx="5990720" cy="2851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41"/>
              </a:lnSpc>
              <a:spcBef>
                <a:spcPct val="0"/>
              </a:spcBef>
            </a:pPr>
            <a:r>
              <a:rPr lang="en-US" sz="2029">
                <a:solidFill>
                  <a:srgbClr val="2C2C2C"/>
                </a:solidFill>
                <a:latin typeface="Saira"/>
                <a:ea typeface="Saira"/>
                <a:cs typeface="Saira"/>
                <a:sym typeface="Saira"/>
              </a:rPr>
              <a:t>Se implementó un menú de navegación dinámico en React + Vite, estructurado mediante un arreglo de rutas e íconos SVG. Esta configuración permite una UI modular, escalable y consistente, facilitando la gestión de secciones clave del sitio financiero (Inicio, Portafolios, Transacciones, Precios, Rendimiento, Ahorro, Aprendizaje y Perfil).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60471"/>
            <a:ext cx="10796033" cy="4454775"/>
          </a:xfrm>
          <a:custGeom>
            <a:avLst/>
            <a:gdLst/>
            <a:ahLst/>
            <a:cxnLst/>
            <a:rect r="r" b="b" t="t" l="l"/>
            <a:pathLst>
              <a:path h="4454775" w="10796033">
                <a:moveTo>
                  <a:pt x="0" y="0"/>
                </a:moveTo>
                <a:lnTo>
                  <a:pt x="10796033" y="0"/>
                </a:lnTo>
                <a:lnTo>
                  <a:pt x="10796033" y="4454776"/>
                </a:lnTo>
                <a:lnTo>
                  <a:pt x="0" y="44547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497" r="0" b="-649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187307"/>
            <a:ext cx="11301259" cy="5099693"/>
          </a:xfrm>
          <a:custGeom>
            <a:avLst/>
            <a:gdLst/>
            <a:ahLst/>
            <a:cxnLst/>
            <a:rect r="r" b="b" t="t" l="l"/>
            <a:pathLst>
              <a:path h="5099693" w="11301259">
                <a:moveTo>
                  <a:pt x="0" y="0"/>
                </a:moveTo>
                <a:lnTo>
                  <a:pt x="11301259" y="0"/>
                </a:lnTo>
                <a:lnTo>
                  <a:pt x="11301259" y="5099693"/>
                </a:lnTo>
                <a:lnTo>
                  <a:pt x="0" y="50996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71755" y="2081066"/>
            <a:ext cx="11301259" cy="5156199"/>
          </a:xfrm>
          <a:custGeom>
            <a:avLst/>
            <a:gdLst/>
            <a:ahLst/>
            <a:cxnLst/>
            <a:rect r="r" b="b" t="t" l="l"/>
            <a:pathLst>
              <a:path h="5156199" w="11301259">
                <a:moveTo>
                  <a:pt x="0" y="0"/>
                </a:moveTo>
                <a:lnTo>
                  <a:pt x="11301259" y="0"/>
                </a:lnTo>
                <a:lnTo>
                  <a:pt x="11301259" y="5156199"/>
                </a:lnTo>
                <a:lnTo>
                  <a:pt x="0" y="51561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69645" y="-248793"/>
            <a:ext cx="14299339" cy="92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6"/>
              </a:lnSpc>
              <a:spcBef>
                <a:spcPct val="0"/>
              </a:spcBef>
            </a:pPr>
            <a:r>
              <a:rPr lang="en-US" b="true" sz="5397">
                <a:solidFill>
                  <a:srgbClr val="2C2C2C"/>
                </a:solidFill>
                <a:latin typeface="Saira Bold"/>
                <a:ea typeface="Saira Bold"/>
                <a:cs typeface="Saira Bold"/>
                <a:sym typeface="Saira Bold"/>
              </a:rPr>
              <a:t>Escenarios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8454" y="820109"/>
            <a:ext cx="15629761" cy="8987112"/>
          </a:xfrm>
          <a:custGeom>
            <a:avLst/>
            <a:gdLst/>
            <a:ahLst/>
            <a:cxnLst/>
            <a:rect r="r" b="b" t="t" l="l"/>
            <a:pathLst>
              <a:path h="8987112" w="15629761">
                <a:moveTo>
                  <a:pt x="0" y="0"/>
                </a:moveTo>
                <a:lnTo>
                  <a:pt x="15629761" y="0"/>
                </a:lnTo>
                <a:lnTo>
                  <a:pt x="15629761" y="8987112"/>
                </a:lnTo>
                <a:lnTo>
                  <a:pt x="0" y="89871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2083" y="876300"/>
            <a:ext cx="14852810" cy="136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18"/>
              </a:lnSpc>
              <a:spcBef>
                <a:spcPct val="0"/>
              </a:spcBef>
            </a:pPr>
            <a:r>
              <a:rPr lang="en-US" b="true" sz="7941" spc="1000">
                <a:solidFill>
                  <a:srgbClr val="24B224"/>
                </a:solidFill>
                <a:latin typeface="Saira Bold"/>
                <a:ea typeface="Saira Bold"/>
                <a:cs typeface="Saira Bold"/>
                <a:sym typeface="Saira Bold"/>
              </a:rPr>
              <a:t>LUGARES CLAVE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03148"/>
            <a:ext cx="18288000" cy="8526780"/>
          </a:xfrm>
          <a:custGeom>
            <a:avLst/>
            <a:gdLst/>
            <a:ahLst/>
            <a:cxnLst/>
            <a:rect r="r" b="b" t="t" l="l"/>
            <a:pathLst>
              <a:path h="8526780" w="18288000">
                <a:moveTo>
                  <a:pt x="0" y="0"/>
                </a:moveTo>
                <a:lnTo>
                  <a:pt x="18288000" y="0"/>
                </a:lnTo>
                <a:lnTo>
                  <a:pt x="18288000" y="8526780"/>
                </a:lnTo>
                <a:lnTo>
                  <a:pt x="0" y="8526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30084" y="5965985"/>
            <a:ext cx="8468058" cy="92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56"/>
              </a:lnSpc>
              <a:spcBef>
                <a:spcPct val="0"/>
              </a:spcBef>
            </a:pPr>
            <a:r>
              <a:rPr lang="en-US" b="true" sz="5397" strike="noStrike" u="none">
                <a:solidFill>
                  <a:srgbClr val="2C2C2C"/>
                </a:solidFill>
                <a:latin typeface="Saira Bold"/>
                <a:ea typeface="Saira Bold"/>
                <a:cs typeface="Saira Bold"/>
                <a:sym typeface="Saira Bold"/>
              </a:rPr>
              <a:t>Análisis Fundamental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67057" y="7036746"/>
            <a:ext cx="11995062" cy="266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52"/>
              </a:lnSpc>
              <a:spcBef>
                <a:spcPct val="0"/>
              </a:spcBef>
            </a:pPr>
            <a:r>
              <a:rPr lang="en-US" sz="2537">
                <a:solidFill>
                  <a:srgbClr val="2C2C2C"/>
                </a:solidFill>
                <a:latin typeface="Saira"/>
                <a:ea typeface="Saira"/>
                <a:cs typeface="Saira"/>
                <a:sym typeface="Saira"/>
              </a:rPr>
              <a:t>Se desarrollaron las vistas “Portafolios” y “Crear Portafolio” usando React + Vite y React Router para la navegación dinámica. Se implementó gestión de estado local con useState para manejar los datos del usuario y la creación de nuevos portafolios. La interfaz utiliza estilos en línea reutilizables, priorizando una experiencia limpia, responsiva y coherente con la identidad visual del sitio financiero.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028700"/>
            <a:ext cx="18162740" cy="8286750"/>
          </a:xfrm>
          <a:custGeom>
            <a:avLst/>
            <a:gdLst/>
            <a:ahLst/>
            <a:cxnLst/>
            <a:rect r="r" b="b" t="t" l="l"/>
            <a:pathLst>
              <a:path h="8286750" w="18162740">
                <a:moveTo>
                  <a:pt x="0" y="0"/>
                </a:moveTo>
                <a:lnTo>
                  <a:pt x="18162740" y="0"/>
                </a:lnTo>
                <a:lnTo>
                  <a:pt x="18162740" y="8286750"/>
                </a:lnTo>
                <a:lnTo>
                  <a:pt x="0" y="828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0" t="0" r="-102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595610" y="2221517"/>
            <a:ext cx="8468058" cy="92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56"/>
              </a:lnSpc>
              <a:spcBef>
                <a:spcPct val="0"/>
              </a:spcBef>
            </a:pPr>
            <a:r>
              <a:rPr lang="en-US" b="true" sz="5397" strike="noStrike" u="none">
                <a:solidFill>
                  <a:srgbClr val="2C2C2C"/>
                </a:solidFill>
                <a:latin typeface="Saira Bold"/>
                <a:ea typeface="Saira Bold"/>
                <a:cs typeface="Saira Bold"/>
                <a:sym typeface="Saira Bold"/>
              </a:rPr>
              <a:t>Análisis Fundamental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056961" y="3498018"/>
            <a:ext cx="5740567" cy="5355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52"/>
              </a:lnSpc>
              <a:spcBef>
                <a:spcPct val="0"/>
              </a:spcBef>
            </a:pPr>
            <a:r>
              <a:rPr lang="en-US" sz="2537">
                <a:solidFill>
                  <a:srgbClr val="2C2C2C"/>
                </a:solidFill>
                <a:latin typeface="Saira"/>
                <a:ea typeface="Saira"/>
                <a:cs typeface="Saira"/>
                <a:sym typeface="Saira"/>
              </a:rPr>
              <a:t>Se desarrollaron las vistas “Portafolios” y “Crear Portafolio” usando React + Vite y React Router para la navegación dinámica. Se implementó gestión de estado local con useState para manejar los datos del usuario y la creación de nuevos portafolios. La interfaz utiliza estilos en línea reutilizables, priorizando una experiencia limpia, responsiva y coherente con la identidad visual del sitio financiero.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8514" y="295397"/>
            <a:ext cx="9453671" cy="5311762"/>
          </a:xfrm>
          <a:custGeom>
            <a:avLst/>
            <a:gdLst/>
            <a:ahLst/>
            <a:cxnLst/>
            <a:rect r="r" b="b" t="t" l="l"/>
            <a:pathLst>
              <a:path h="5311762" w="9453671">
                <a:moveTo>
                  <a:pt x="0" y="0"/>
                </a:moveTo>
                <a:lnTo>
                  <a:pt x="9453671" y="0"/>
                </a:lnTo>
                <a:lnTo>
                  <a:pt x="9453671" y="5311762"/>
                </a:lnTo>
                <a:lnTo>
                  <a:pt x="0" y="53117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05979" y="5712464"/>
            <a:ext cx="10453321" cy="2648487"/>
          </a:xfrm>
          <a:custGeom>
            <a:avLst/>
            <a:gdLst/>
            <a:ahLst/>
            <a:cxnLst/>
            <a:rect r="r" b="b" t="t" l="l"/>
            <a:pathLst>
              <a:path h="2648487" w="10453321">
                <a:moveTo>
                  <a:pt x="0" y="0"/>
                </a:moveTo>
                <a:lnTo>
                  <a:pt x="10453321" y="0"/>
                </a:lnTo>
                <a:lnTo>
                  <a:pt x="10453321" y="2648487"/>
                </a:lnTo>
                <a:lnTo>
                  <a:pt x="0" y="26484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51916"/>
            <a:ext cx="18288000" cy="8252460"/>
          </a:xfrm>
          <a:custGeom>
            <a:avLst/>
            <a:gdLst/>
            <a:ahLst/>
            <a:cxnLst/>
            <a:rect r="r" b="b" t="t" l="l"/>
            <a:pathLst>
              <a:path h="8252460" w="18288000">
                <a:moveTo>
                  <a:pt x="0" y="0"/>
                </a:moveTo>
                <a:lnTo>
                  <a:pt x="18288000" y="0"/>
                </a:lnTo>
                <a:lnTo>
                  <a:pt x="18288000" y="8252460"/>
                </a:lnTo>
                <a:lnTo>
                  <a:pt x="0" y="8252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37260"/>
            <a:ext cx="18288000" cy="8321040"/>
          </a:xfrm>
          <a:custGeom>
            <a:avLst/>
            <a:gdLst/>
            <a:ahLst/>
            <a:cxnLst/>
            <a:rect r="r" b="b" t="t" l="l"/>
            <a:pathLst>
              <a:path h="8321040" w="18288000">
                <a:moveTo>
                  <a:pt x="0" y="0"/>
                </a:moveTo>
                <a:lnTo>
                  <a:pt x="18288000" y="0"/>
                </a:lnTo>
                <a:lnTo>
                  <a:pt x="18288000" y="8321040"/>
                </a:lnTo>
                <a:lnTo>
                  <a:pt x="0" y="83210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7566" y="3797182"/>
            <a:ext cx="7616434" cy="1785778"/>
            <a:chOff x="0" y="0"/>
            <a:chExt cx="2005974" cy="4703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05974" cy="470328"/>
            </a:xfrm>
            <a:custGeom>
              <a:avLst/>
              <a:gdLst/>
              <a:ahLst/>
              <a:cxnLst/>
              <a:rect r="r" b="b" t="t" l="l"/>
              <a:pathLst>
                <a:path h="470328" w="2005974">
                  <a:moveTo>
                    <a:pt x="32527" y="0"/>
                  </a:moveTo>
                  <a:lnTo>
                    <a:pt x="1973447" y="0"/>
                  </a:lnTo>
                  <a:cubicBezTo>
                    <a:pt x="1991411" y="0"/>
                    <a:pt x="2005974" y="14563"/>
                    <a:pt x="2005974" y="32527"/>
                  </a:cubicBezTo>
                  <a:lnTo>
                    <a:pt x="2005974" y="437801"/>
                  </a:lnTo>
                  <a:cubicBezTo>
                    <a:pt x="2005974" y="455766"/>
                    <a:pt x="1991411" y="470328"/>
                    <a:pt x="1973447" y="470328"/>
                  </a:cubicBezTo>
                  <a:lnTo>
                    <a:pt x="32527" y="470328"/>
                  </a:lnTo>
                  <a:cubicBezTo>
                    <a:pt x="23900" y="470328"/>
                    <a:pt x="15627" y="466901"/>
                    <a:pt x="9527" y="460801"/>
                  </a:cubicBezTo>
                  <a:cubicBezTo>
                    <a:pt x="3427" y="454701"/>
                    <a:pt x="0" y="446428"/>
                    <a:pt x="0" y="437801"/>
                  </a:cubicBezTo>
                  <a:lnTo>
                    <a:pt x="0" y="32527"/>
                  </a:lnTo>
                  <a:cubicBezTo>
                    <a:pt x="0" y="14563"/>
                    <a:pt x="14563" y="0"/>
                    <a:pt x="3252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005974" cy="498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498990" y="448796"/>
            <a:ext cx="6982641" cy="10519987"/>
          </a:xfrm>
          <a:custGeom>
            <a:avLst/>
            <a:gdLst/>
            <a:ahLst/>
            <a:cxnLst/>
            <a:rect r="r" b="b" t="t" l="l"/>
            <a:pathLst>
              <a:path h="10519987" w="6982641">
                <a:moveTo>
                  <a:pt x="0" y="0"/>
                </a:moveTo>
                <a:lnTo>
                  <a:pt x="6982641" y="0"/>
                </a:lnTo>
                <a:lnTo>
                  <a:pt x="6982641" y="10519987"/>
                </a:lnTo>
                <a:lnTo>
                  <a:pt x="0" y="10519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60948" y="4132420"/>
            <a:ext cx="7149670" cy="116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34"/>
              </a:lnSpc>
              <a:spcBef>
                <a:spcPct val="0"/>
              </a:spcBef>
            </a:pPr>
            <a:r>
              <a:rPr lang="en-US" b="true" sz="6881">
                <a:solidFill>
                  <a:srgbClr val="2C2C2C"/>
                </a:solidFill>
                <a:latin typeface="Saira Bold"/>
                <a:ea typeface="Saira Bold"/>
                <a:cs typeface="Saira Bold"/>
                <a:sym typeface="Saira Bold"/>
              </a:rPr>
              <a:t>Muchas Gracias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99147" y="2049226"/>
            <a:ext cx="3341232" cy="1176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5"/>
              </a:lnSpc>
              <a:spcBef>
                <a:spcPct val="0"/>
              </a:spcBef>
            </a:pPr>
            <a:r>
              <a:rPr lang="en-US" sz="3453" spc="362">
                <a:solidFill>
                  <a:srgbClr val="2C2C2C"/>
                </a:solidFill>
                <a:latin typeface="Saira"/>
                <a:ea typeface="Saira"/>
                <a:cs typeface="Saira"/>
                <a:sym typeface="Saira"/>
              </a:rPr>
              <a:t>Sociedad curiteña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217084" y="5366841"/>
            <a:ext cx="4237398" cy="683897"/>
            <a:chOff x="0" y="0"/>
            <a:chExt cx="1116023" cy="1801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6023" cy="180121"/>
            </a:xfrm>
            <a:custGeom>
              <a:avLst/>
              <a:gdLst/>
              <a:ahLst/>
              <a:cxnLst/>
              <a:rect r="r" b="b" t="t" l="l"/>
              <a:pathLst>
                <a:path h="180121" w="1116023">
                  <a:moveTo>
                    <a:pt x="90061" y="0"/>
                  </a:moveTo>
                  <a:lnTo>
                    <a:pt x="1025962" y="0"/>
                  </a:lnTo>
                  <a:cubicBezTo>
                    <a:pt x="1049848" y="0"/>
                    <a:pt x="1072755" y="9488"/>
                    <a:pt x="1089644" y="26378"/>
                  </a:cubicBezTo>
                  <a:cubicBezTo>
                    <a:pt x="1106534" y="43268"/>
                    <a:pt x="1116023" y="66175"/>
                    <a:pt x="1116023" y="90061"/>
                  </a:cubicBezTo>
                  <a:lnTo>
                    <a:pt x="1116023" y="90061"/>
                  </a:lnTo>
                  <a:cubicBezTo>
                    <a:pt x="1116023" y="139800"/>
                    <a:pt x="1075701" y="180121"/>
                    <a:pt x="1025962" y="180121"/>
                  </a:cubicBezTo>
                  <a:lnTo>
                    <a:pt x="90061" y="180121"/>
                  </a:lnTo>
                  <a:cubicBezTo>
                    <a:pt x="40321" y="180121"/>
                    <a:pt x="0" y="139800"/>
                    <a:pt x="0" y="90061"/>
                  </a:cubicBezTo>
                  <a:lnTo>
                    <a:pt x="0" y="90061"/>
                  </a:lnTo>
                  <a:cubicBezTo>
                    <a:pt x="0" y="40321"/>
                    <a:pt x="40321" y="0"/>
                    <a:pt x="90061" y="0"/>
                  </a:cubicBezTo>
                  <a:close/>
                </a:path>
              </a:pathLst>
            </a:custGeom>
            <a:solidFill>
              <a:srgbClr val="24B224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16023" cy="218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2"/>
                </a:lnSpc>
              </a:pPr>
              <a:r>
                <a:rPr lang="en-US" b="true" sz="1880" spc="197">
                  <a:solidFill>
                    <a:srgbClr val="FFFFFF"/>
                  </a:solidFill>
                  <a:latin typeface="Saira Bold"/>
                  <a:ea typeface="Saira Bold"/>
                  <a:cs typeface="Saira Bold"/>
                  <a:sym typeface="Saira Bold"/>
                </a:rPr>
                <a:t>HTTP://LOCALHOST:5173/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44269" y="2057803"/>
            <a:ext cx="1112670" cy="1167879"/>
          </a:xfrm>
          <a:custGeom>
            <a:avLst/>
            <a:gdLst/>
            <a:ahLst/>
            <a:cxnLst/>
            <a:rect r="r" b="b" t="t" l="l"/>
            <a:pathLst>
              <a:path h="1167879" w="1112670">
                <a:moveTo>
                  <a:pt x="0" y="0"/>
                </a:moveTo>
                <a:lnTo>
                  <a:pt x="1112670" y="0"/>
                </a:lnTo>
                <a:lnTo>
                  <a:pt x="1112670" y="1167879"/>
                </a:lnTo>
                <a:lnTo>
                  <a:pt x="0" y="11678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63327" y="4642791"/>
            <a:ext cx="2355139" cy="1665280"/>
          </a:xfrm>
          <a:custGeom>
            <a:avLst/>
            <a:gdLst/>
            <a:ahLst/>
            <a:cxnLst/>
            <a:rect r="r" b="b" t="t" l="l"/>
            <a:pathLst>
              <a:path h="1665280" w="2355139">
                <a:moveTo>
                  <a:pt x="0" y="0"/>
                </a:moveTo>
                <a:lnTo>
                  <a:pt x="2355139" y="0"/>
                </a:lnTo>
                <a:lnTo>
                  <a:pt x="2355139" y="1665279"/>
                </a:lnTo>
                <a:lnTo>
                  <a:pt x="0" y="1665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63115" y="4618706"/>
            <a:ext cx="1342756" cy="1525859"/>
          </a:xfrm>
          <a:custGeom>
            <a:avLst/>
            <a:gdLst/>
            <a:ahLst/>
            <a:cxnLst/>
            <a:rect r="r" b="b" t="t" l="l"/>
            <a:pathLst>
              <a:path h="1525859" w="1342756">
                <a:moveTo>
                  <a:pt x="0" y="0"/>
                </a:moveTo>
                <a:lnTo>
                  <a:pt x="1342756" y="0"/>
                </a:lnTo>
                <a:lnTo>
                  <a:pt x="1342756" y="1525859"/>
                </a:lnTo>
                <a:lnTo>
                  <a:pt x="0" y="1525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69454" y="4618706"/>
            <a:ext cx="1342756" cy="1525859"/>
          </a:xfrm>
          <a:custGeom>
            <a:avLst/>
            <a:gdLst/>
            <a:ahLst/>
            <a:cxnLst/>
            <a:rect r="r" b="b" t="t" l="l"/>
            <a:pathLst>
              <a:path h="1525859" w="1342756">
                <a:moveTo>
                  <a:pt x="0" y="0"/>
                </a:moveTo>
                <a:lnTo>
                  <a:pt x="1342756" y="0"/>
                </a:lnTo>
                <a:lnTo>
                  <a:pt x="1342756" y="1525859"/>
                </a:lnTo>
                <a:lnTo>
                  <a:pt x="0" y="15258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59881" y="6841392"/>
            <a:ext cx="1498002" cy="1365054"/>
          </a:xfrm>
          <a:custGeom>
            <a:avLst/>
            <a:gdLst/>
            <a:ahLst/>
            <a:cxnLst/>
            <a:rect r="r" b="b" t="t" l="l"/>
            <a:pathLst>
              <a:path h="1365054" w="1498002">
                <a:moveTo>
                  <a:pt x="0" y="0"/>
                </a:moveTo>
                <a:lnTo>
                  <a:pt x="1498002" y="0"/>
                </a:lnTo>
                <a:lnTo>
                  <a:pt x="1498002" y="1365054"/>
                </a:lnTo>
                <a:lnTo>
                  <a:pt x="0" y="13650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5899" y="4716149"/>
            <a:ext cx="1725163" cy="1812059"/>
          </a:xfrm>
          <a:custGeom>
            <a:avLst/>
            <a:gdLst/>
            <a:ahLst/>
            <a:cxnLst/>
            <a:rect r="r" b="b" t="t" l="l"/>
            <a:pathLst>
              <a:path h="1812059" w="1725163">
                <a:moveTo>
                  <a:pt x="0" y="0"/>
                </a:moveTo>
                <a:lnTo>
                  <a:pt x="1725163" y="0"/>
                </a:lnTo>
                <a:lnTo>
                  <a:pt x="1725163" y="1812059"/>
                </a:lnTo>
                <a:lnTo>
                  <a:pt x="0" y="18120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883062" y="4642791"/>
            <a:ext cx="1851640" cy="1812059"/>
          </a:xfrm>
          <a:custGeom>
            <a:avLst/>
            <a:gdLst/>
            <a:ahLst/>
            <a:cxnLst/>
            <a:rect r="r" b="b" t="t" l="l"/>
            <a:pathLst>
              <a:path h="1812059" w="1851640">
                <a:moveTo>
                  <a:pt x="0" y="0"/>
                </a:moveTo>
                <a:lnTo>
                  <a:pt x="1851640" y="0"/>
                </a:lnTo>
                <a:lnTo>
                  <a:pt x="1851640" y="1812058"/>
                </a:lnTo>
                <a:lnTo>
                  <a:pt x="0" y="18120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955129" y="4514220"/>
            <a:ext cx="958177" cy="1517905"/>
          </a:xfrm>
          <a:custGeom>
            <a:avLst/>
            <a:gdLst/>
            <a:ahLst/>
            <a:cxnLst/>
            <a:rect r="r" b="b" t="t" l="l"/>
            <a:pathLst>
              <a:path h="1517905" w="958177">
                <a:moveTo>
                  <a:pt x="0" y="0"/>
                </a:moveTo>
                <a:lnTo>
                  <a:pt x="958177" y="0"/>
                </a:lnTo>
                <a:lnTo>
                  <a:pt x="958177" y="1517905"/>
                </a:lnTo>
                <a:lnTo>
                  <a:pt x="0" y="15179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163327" y="6806839"/>
            <a:ext cx="2177031" cy="1347038"/>
          </a:xfrm>
          <a:custGeom>
            <a:avLst/>
            <a:gdLst/>
            <a:ahLst/>
            <a:cxnLst/>
            <a:rect r="r" b="b" t="t" l="l"/>
            <a:pathLst>
              <a:path h="1347038" w="2177031">
                <a:moveTo>
                  <a:pt x="0" y="0"/>
                </a:moveTo>
                <a:lnTo>
                  <a:pt x="2177031" y="0"/>
                </a:lnTo>
                <a:lnTo>
                  <a:pt x="2177031" y="1347038"/>
                </a:lnTo>
                <a:lnTo>
                  <a:pt x="0" y="134703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768950" y="6651155"/>
            <a:ext cx="1931086" cy="1337277"/>
          </a:xfrm>
          <a:custGeom>
            <a:avLst/>
            <a:gdLst/>
            <a:ahLst/>
            <a:cxnLst/>
            <a:rect r="r" b="b" t="t" l="l"/>
            <a:pathLst>
              <a:path h="1337277" w="1931086">
                <a:moveTo>
                  <a:pt x="0" y="0"/>
                </a:moveTo>
                <a:lnTo>
                  <a:pt x="1931086" y="0"/>
                </a:lnTo>
                <a:lnTo>
                  <a:pt x="1931086" y="1337278"/>
                </a:lnTo>
                <a:lnTo>
                  <a:pt x="0" y="133727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169454" y="6651155"/>
            <a:ext cx="2143931" cy="1337277"/>
          </a:xfrm>
          <a:custGeom>
            <a:avLst/>
            <a:gdLst/>
            <a:ahLst/>
            <a:cxnLst/>
            <a:rect r="r" b="b" t="t" l="l"/>
            <a:pathLst>
              <a:path h="1337277" w="2143931">
                <a:moveTo>
                  <a:pt x="0" y="0"/>
                </a:moveTo>
                <a:lnTo>
                  <a:pt x="2143931" y="0"/>
                </a:lnTo>
                <a:lnTo>
                  <a:pt x="2143931" y="1337278"/>
                </a:lnTo>
                <a:lnTo>
                  <a:pt x="0" y="133727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989527" y="6528208"/>
            <a:ext cx="2694294" cy="1532380"/>
          </a:xfrm>
          <a:custGeom>
            <a:avLst/>
            <a:gdLst/>
            <a:ahLst/>
            <a:cxnLst/>
            <a:rect r="r" b="b" t="t" l="l"/>
            <a:pathLst>
              <a:path h="1532380" w="2694294">
                <a:moveTo>
                  <a:pt x="0" y="0"/>
                </a:moveTo>
                <a:lnTo>
                  <a:pt x="2694294" y="0"/>
                </a:lnTo>
                <a:lnTo>
                  <a:pt x="2694294" y="1532380"/>
                </a:lnTo>
                <a:lnTo>
                  <a:pt x="0" y="153238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356225" y="4514220"/>
            <a:ext cx="2327596" cy="1434381"/>
          </a:xfrm>
          <a:custGeom>
            <a:avLst/>
            <a:gdLst/>
            <a:ahLst/>
            <a:cxnLst/>
            <a:rect r="r" b="b" t="t" l="l"/>
            <a:pathLst>
              <a:path h="1434381" w="2327596">
                <a:moveTo>
                  <a:pt x="0" y="0"/>
                </a:moveTo>
                <a:lnTo>
                  <a:pt x="2327596" y="0"/>
                </a:lnTo>
                <a:lnTo>
                  <a:pt x="2327596" y="1434381"/>
                </a:lnTo>
                <a:lnTo>
                  <a:pt x="0" y="143438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75859" y="6717764"/>
            <a:ext cx="2424756" cy="1509411"/>
          </a:xfrm>
          <a:custGeom>
            <a:avLst/>
            <a:gdLst/>
            <a:ahLst/>
            <a:cxnLst/>
            <a:rect r="r" b="b" t="t" l="l"/>
            <a:pathLst>
              <a:path h="1509411" w="2424756">
                <a:moveTo>
                  <a:pt x="0" y="0"/>
                </a:moveTo>
                <a:lnTo>
                  <a:pt x="2424756" y="0"/>
                </a:lnTo>
                <a:lnTo>
                  <a:pt x="2424756" y="1509411"/>
                </a:lnTo>
                <a:lnTo>
                  <a:pt x="0" y="150941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047299" y="1615488"/>
            <a:ext cx="10193402" cy="116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34"/>
              </a:lnSpc>
              <a:spcBef>
                <a:spcPct val="0"/>
              </a:spcBef>
            </a:pPr>
            <a:r>
              <a:rPr lang="en-US" b="true" sz="6881">
                <a:solidFill>
                  <a:srgbClr val="2C2C2C"/>
                </a:solidFill>
                <a:latin typeface="Saira Bold"/>
                <a:ea typeface="Saira Bold"/>
                <a:cs typeface="Saira Bold"/>
                <a:sym typeface="Saira Bold"/>
              </a:rPr>
              <a:t>Página de Recursos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DAG33v7RrfU</dc:identifier>
  <dcterms:modified xsi:type="dcterms:W3CDTF">2011-08-01T06:04:30Z</dcterms:modified>
  <cp:revision>1</cp:revision>
  <dc:title>plataforma</dc:title>
</cp:coreProperties>
</file>